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Plus Jakarta Sans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43" y="7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59669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B2777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97706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0891B2"/>
              </a:solidFill>
              <a:ln w="19050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64748B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0F172A"/>
                        </a:solidFill>
                        <a:latin typeface="Plus Jakarta Sans"/>
                      </a:rPr>
                      <a:t>€16.01K (23.03%)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0F172A"/>
                        </a:solidFill>
                        <a:latin typeface="Plus Jakarta Sans"/>
                      </a:rPr>
                      <a:t>€12K (17.53%)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0F172A"/>
                        </a:solidFill>
                        <a:latin typeface="Plus Jakarta Sans"/>
                      </a:rPr>
                      <a:t>€10.89K (15.67%)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0F172A"/>
                        </a:solidFill>
                        <a:latin typeface="Plus Jakarta Sans"/>
                      </a:rPr>
                      <a:t>€12.02K (17.3%)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0F172A"/>
                        </a:solidFill>
                        <a:latin typeface="Plus Jakarta Sans"/>
                      </a:rPr>
                      <a:t>€5.72K (8.23%)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0F172A"/>
                        </a:solidFill>
                        <a:latin typeface="Plus Jakarta Sans"/>
                      </a:rPr>
                      <a:t>€9.25K (13.3%)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0">
                        <a:solidFill>
                          <a:srgbClr val="0F172A"/>
                        </a:solidFill>
                        <a:latin typeface="Plus Jakarta Sans"/>
                      </a:rPr>
                      <a:t>€3.43K (4.94%)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Hybrid</c:v>
                </c:pt>
                <c:pt idx="1">
                  <c:v>Diesel</c:v>
                </c:pt>
                <c:pt idx="2">
                  <c:v>Elektro</c:v>
                </c:pt>
                <c:pt idx="3">
                  <c:v>Lpg</c:v>
                </c:pt>
                <c:pt idx="4">
                  <c:v>Cng</c:v>
                </c:pt>
                <c:pt idx="5">
                  <c:v>Benzin</c:v>
                </c:pt>
                <c:pt idx="6">
                  <c:v>Andere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16.01</c:v>
                </c:pt>
                <c:pt idx="1">
                  <c:v>12.0</c:v>
                </c:pt>
                <c:pt idx="2">
                  <c:v>10.89</c:v>
                </c:pt>
                <c:pt idx="3">
                  <c:v>12.02</c:v>
                </c:pt>
                <c:pt idx="4">
                  <c:v>5.72</c:v>
                </c:pt>
                <c:pt idx="5">
                  <c:v>9.25</c:v>
                </c:pt>
                <c:pt idx="6">
                  <c:v>3.43</c:v>
                </c:pt>
              </c:numCache>
            </c:numRef>
          </c:val>
        </c:ser>
      </c:pieChart>
    </c:plotArea>
    <c:legend>
      <c:legendPos/>
      <c:overlay val="0"/>
      <c:txPr>
        <a:bodyPr/>
        <a:lstStyle/>
        <a:p>
          <a:pPr>
            <a:defRPr sz="1200" b="0">
              <a:solidFill>
                <a:srgbClr val="0F172A"/>
              </a:solidFill>
              <a:latin typeface="Plus Jakarta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563EB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Automatic — €16.64K (66.61%)</c:v>
                </c:pt>
                <c:pt idx="1">
                  <c:v>Manual — €8.34K (33.39%)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16.64</c:v>
                </c:pt>
                <c:pt idx="1">
                  <c:v>8.34</c:v>
                </c:pt>
              </c:numCache>
            </c:numRef>
          </c:val>
        </c:ser>
        <c:firstSliceAng val="0"/>
        <c:holeSize val="68"/>
      </c:doughnutChart>
    </c:plotArea>
    <c:legend>
      <c:legendPos val="b"/>
      <c:layout/>
      <c:overlay val="0"/>
      <c:txPr>
        <a:bodyPr/>
        <a:lstStyle/>
        <a:p>
          <a:pPr>
            <a:defRPr sz="1200" b="0">
              <a:solidFill>
                <a:srgbClr val="0F172A"/>
              </a:solidFill>
              <a:latin typeface="Plus Jakarta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059669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11D48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Buying — 304.75K (97.94%)</c:v>
                </c:pt>
                <c:pt idx="1">
                  <c:v>Avoid — 6.4K (2.06%)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304.75</c:v>
                </c:pt>
                <c:pt idx="1">
                  <c:v>6.4</c:v>
                </c:pt>
              </c:numCache>
            </c:numRef>
          </c:val>
        </c:ser>
        <c:firstSliceAng val="0"/>
        <c:holeSize val="68"/>
      </c:doughnutChart>
    </c:plotArea>
    <c:legend>
      <c:legendPos val="b"/>
      <c:layout/>
      <c:overlay val="0"/>
      <c:txPr>
        <a:bodyPr/>
        <a:lstStyle/>
        <a:p>
          <a:pPr>
            <a:defRPr sz="1200" b="0">
              <a:solidFill>
                <a:srgbClr val="0F172A"/>
              </a:solidFill>
              <a:latin typeface="Plus Jakarta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fb56876669231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fb56876669231c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fb56876669231c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fb56876669231c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fb56876669231c2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hfb56876669231c2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fb56876669231c2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fb56876669231c2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762000" y="4393852"/>
            <a:ext cx="381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6319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19C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62000" y="4393852"/>
            <a:ext cx="3810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1845022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DATA ANALYTICS PROJECT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2168872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&amp; Sales Analysis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3498502"/>
            <a:ext cx="6762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 &amp; Power BI Insights Across German Used Vehicle Listings (Currency: Euro € / EUR)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19125" y="4631977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295400" y="4636740"/>
            <a:ext cx="12287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Prince Yadav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295400" y="4836765"/>
            <a:ext cx="12287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Analyst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762000" y="1485900"/>
            <a:ext cx="34035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394150" y="1485900"/>
            <a:ext cx="34035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026300" y="1485900"/>
            <a:ext cx="34035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62000" y="1485900"/>
            <a:ext cx="340355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394150" y="1485900"/>
            <a:ext cx="340355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026300" y="1485900"/>
            <a:ext cx="340355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" y="18288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0850" y="18288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93000" y="1828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2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STRATEGY &amp; OBJECTIVES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Overview &amp; Scope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28700" y="2190750"/>
            <a:ext cx="37670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Scope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28700" y="2486025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Comprehensive records analyzed across German used vehicle listings from market snapshots.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660850" y="2190750"/>
            <a:ext cx="37670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 Stack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60850" y="2486025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 Pandas for data cleansing and Power BI for interactive visualization and DAX measures.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293000" y="2190750"/>
            <a:ext cx="37670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Objective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293000" y="2486025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Uncover pricing correlations, transmission types, fuel specifications, and damage records.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762000" y="1409700"/>
            <a:ext cx="2011709" cy="990600"/>
          </a:xfrm>
          <a:prstGeom prst="roundRect">
            <a:avLst>
              <a:gd name="adj" fmla="val 15384"/>
            </a:avLst>
          </a:prstGeom>
          <a:solidFill>
            <a:srgbClr val="E5F0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2926109" y="1409700"/>
            <a:ext cx="2011709" cy="990600"/>
          </a:xfrm>
          <a:prstGeom prst="roundRect">
            <a:avLst>
              <a:gd name="adj" fmla="val 15384"/>
            </a:avLst>
          </a:prstGeom>
          <a:solidFill>
            <a:srgbClr val="E6FDEE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090219" y="1409700"/>
            <a:ext cx="2011709" cy="990600"/>
          </a:xfrm>
          <a:prstGeom prst="roundRect">
            <a:avLst>
              <a:gd name="adj" fmla="val 15384"/>
            </a:avLst>
          </a:prstGeom>
          <a:solidFill>
            <a:srgbClr val="FCEEFF"/>
          </a:solidFill>
          <a:ln w="9525" cap="flat" cmpd="sng">
            <a:solidFill>
              <a:srgbClr val="F5D0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254329" y="1409700"/>
            <a:ext cx="2011709" cy="990600"/>
          </a:xfrm>
          <a:prstGeom prst="roundRect">
            <a:avLst>
              <a:gd name="adj" fmla="val 15384"/>
            </a:avLst>
          </a:prstGeom>
          <a:solidFill>
            <a:srgbClr val="FFF2E1"/>
          </a:solidFill>
          <a:ln w="9525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9418439" y="1409700"/>
            <a:ext cx="2011709" cy="990600"/>
          </a:xfrm>
          <a:prstGeom prst="roundRect">
            <a:avLst>
              <a:gd name="adj" fmla="val 15384"/>
            </a:avLst>
          </a:prstGeom>
          <a:solidFill>
            <a:srgbClr val="FEEAEA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3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WORKSPACE OVERVIEW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Dashboard Telemetry (5 Core KPIs)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23925" y="1647825"/>
            <a:ext cx="210982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Count of index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23925" y="1876425"/>
            <a:ext cx="21098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311.149K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3088034" y="1647825"/>
            <a:ext cx="210982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of New_Price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3088034" y="1876425"/>
            <a:ext cx="21098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 </a:t>
            </a:r>
            <a:r>
              <a:rPr lang="en-US" sz="1800" b="1" dirty="0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r>
              <a:rPr lang="en-US" sz="1800" b="1" i="0" u="none" strike="noStrike" cap="none" dirty="0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.21K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5252144" y="1647825"/>
            <a:ext cx="210982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8619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of kilometer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252144" y="1876425"/>
            <a:ext cx="21098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A21C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125.61K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416254" y="1647825"/>
            <a:ext cx="210982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A34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of vehicle_age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416254" y="1876425"/>
            <a:ext cx="21098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23.18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580364" y="1647825"/>
            <a:ext cx="210982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of Car_Mileage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580364" y="1876425"/>
            <a:ext cx="21098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5.87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762000" y="1409700"/>
            <a:ext cx="10668000" cy="409590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1066800" y="1990725"/>
            <a:ext cx="10058400" cy="133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1066800" y="2447925"/>
            <a:ext cx="10058400" cy="133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1066800" y="2905125"/>
            <a:ext cx="10058400" cy="133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1066800" y="3362325"/>
            <a:ext cx="10058400" cy="133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1066800" y="3819525"/>
            <a:ext cx="10058400" cy="133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1066800" y="4276725"/>
            <a:ext cx="10058400" cy="133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1066800" y="4733925"/>
            <a:ext cx="10058400" cy="133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1066800" y="5191125"/>
            <a:ext cx="10058400" cy="133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1066800" y="1990725"/>
            <a:ext cx="8247900" cy="133500"/>
          </a:xfrm>
          <a:prstGeom prst="rect">
            <a:avLst/>
          </a:prstGeom>
          <a:solidFill>
            <a:srgbClr val="2C68E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1066800" y="2447925"/>
            <a:ext cx="2956794" cy="133500"/>
          </a:xfrm>
          <a:prstGeom prst="rect">
            <a:avLst/>
          </a:prstGeom>
          <a:solidFill>
            <a:srgbClr val="0BA87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1066800" y="2905125"/>
            <a:ext cx="2801174" cy="133500"/>
          </a:xfrm>
          <a:prstGeom prst="rect">
            <a:avLst/>
          </a:prstGeom>
          <a:solidFill>
            <a:srgbClr val="844B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1066800" y="3362325"/>
            <a:ext cx="2334311" cy="133500"/>
          </a:xfrm>
          <a:prstGeom prst="rect">
            <a:avLst/>
          </a:prstGeom>
          <a:solidFill>
            <a:srgbClr val="E78B0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1066800" y="3819525"/>
            <a:ext cx="2178691" cy="133500"/>
          </a:xfrm>
          <a:prstGeom prst="rect">
            <a:avLst/>
          </a:prstGeom>
          <a:solidFill>
            <a:srgbClr val="2C68E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1066800" y="4276725"/>
            <a:ext cx="2645553" cy="133500"/>
          </a:xfrm>
          <a:prstGeom prst="rect">
            <a:avLst/>
          </a:prstGeom>
          <a:solidFill>
            <a:srgbClr val="0BA87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1066800" y="4733925"/>
            <a:ext cx="1711828" cy="133500"/>
          </a:xfrm>
          <a:prstGeom prst="rect">
            <a:avLst/>
          </a:prstGeom>
          <a:solidFill>
            <a:srgbClr val="844B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1066800" y="5191125"/>
            <a:ext cx="2023070" cy="133500"/>
          </a:xfrm>
          <a:prstGeom prst="rect">
            <a:avLst/>
          </a:prstGeom>
          <a:solidFill>
            <a:srgbClr val="E78B0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-1905000" y="6172200"/>
            <a:ext cx="13335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4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62000" y="533400"/>
            <a:ext cx="11430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 VALUATION (CHART 1)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762000" y="762000"/>
            <a:ext cx="1143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Price by Brand (€ EUR)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066800" y="1714500"/>
            <a:ext cx="88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Porsche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0448925" y="1714500"/>
            <a:ext cx="9621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€53,000</a:t>
            </a:r>
            <a:endParaRPr sz="1200" b="1" dirty="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066800" y="2171700"/>
            <a:ext cx="1114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 Rover</a:t>
            </a:r>
            <a:endParaRPr sz="1200" b="1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10487025" y="2171700"/>
            <a:ext cx="924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€19,000</a:t>
            </a:r>
            <a:endParaRPr sz="1200" b="1" dirty="0">
              <a:solidFill>
                <a:srgbClr val="0596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1066800" y="2628900"/>
            <a:ext cx="6192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</a:t>
            </a:r>
            <a:endParaRPr sz="1200" b="1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10506075" y="2628900"/>
            <a:ext cx="9048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€18,000</a:t>
            </a:r>
            <a:endParaRPr sz="1200" b="1" dirty="0">
              <a:solidFill>
                <a:srgbClr val="7C3AE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1066800" y="3086100"/>
            <a:ext cx="1512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Jaguar</a:t>
            </a:r>
            <a:endParaRPr sz="1200" b="1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10487025" y="3086100"/>
            <a:ext cx="924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€15,000</a:t>
            </a:r>
            <a:endParaRPr sz="1200" b="1" dirty="0">
              <a:solidFill>
                <a:srgbClr val="D9770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70" name="Google Shape;170;p16"/>
          <p:cNvGrpSpPr/>
          <p:nvPr/>
        </p:nvGrpSpPr>
        <p:grpSpPr>
          <a:xfrm>
            <a:off x="1066800" y="3543300"/>
            <a:ext cx="1512000" cy="200100"/>
            <a:chOff x="0" y="0"/>
            <a:chExt cx="1512000" cy="200100"/>
          </a:xfrm>
        </p:grpSpPr>
        <p:sp>
          <p:nvSpPr>
            <p:cNvPr id="171" name="Google Shape;171;p16"/>
            <p:cNvSpPr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6"/>
            <p:cNvSpPr txBox="1"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Jeep</a:t>
              </a:r>
              <a:endParaRPr sz="12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73" name="Google Shape;173;p16"/>
          <p:cNvGrpSpPr/>
          <p:nvPr/>
        </p:nvGrpSpPr>
        <p:grpSpPr>
          <a:xfrm>
            <a:off x="10487025" y="3543300"/>
            <a:ext cx="924000" cy="200100"/>
            <a:chOff x="0" y="0"/>
            <a:chExt cx="924000" cy="200100"/>
          </a:xfrm>
        </p:grpSpPr>
        <p:sp>
          <p:nvSpPr>
            <p:cNvPr id="174" name="Google Shape;174;p16"/>
            <p:cNvSpPr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€14,000</a:t>
              </a:r>
              <a:endParaRPr sz="1200" b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76" name="Google Shape;176;p16"/>
          <p:cNvGrpSpPr/>
          <p:nvPr/>
        </p:nvGrpSpPr>
        <p:grpSpPr>
          <a:xfrm>
            <a:off x="1066800" y="4000500"/>
            <a:ext cx="1512000" cy="200100"/>
            <a:chOff x="0" y="0"/>
            <a:chExt cx="1512000" cy="200100"/>
          </a:xfrm>
        </p:grpSpPr>
        <p:sp>
          <p:nvSpPr>
            <p:cNvPr id="177" name="Google Shape;177;p16"/>
            <p:cNvSpPr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Mercedes-Benz</a:t>
              </a:r>
              <a:endParaRPr sz="12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79" name="Google Shape;179;p16"/>
          <p:cNvGrpSpPr/>
          <p:nvPr/>
        </p:nvGrpSpPr>
        <p:grpSpPr>
          <a:xfrm>
            <a:off x="10487025" y="4000500"/>
            <a:ext cx="924000" cy="200100"/>
            <a:chOff x="0" y="0"/>
            <a:chExt cx="924000" cy="200100"/>
          </a:xfrm>
        </p:grpSpPr>
        <p:sp>
          <p:nvSpPr>
            <p:cNvPr id="180" name="Google Shape;180;p16"/>
            <p:cNvSpPr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6"/>
            <p:cNvSpPr txBox="1"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0596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€17,000</a:t>
              </a:r>
              <a:endParaRPr sz="1200" b="1" dirty="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82" name="Google Shape;182;p16"/>
          <p:cNvGrpSpPr/>
          <p:nvPr/>
        </p:nvGrpSpPr>
        <p:grpSpPr>
          <a:xfrm>
            <a:off x="1066800" y="4457700"/>
            <a:ext cx="1512000" cy="200100"/>
            <a:chOff x="0" y="0"/>
            <a:chExt cx="1512000" cy="200100"/>
          </a:xfrm>
        </p:grpSpPr>
        <p:sp>
          <p:nvSpPr>
            <p:cNvPr id="183" name="Google Shape;183;p16"/>
            <p:cNvSpPr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 txBox="1"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Mini</a:t>
              </a:r>
              <a:endParaRPr sz="12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85" name="Google Shape;185;p16"/>
          <p:cNvGrpSpPr/>
          <p:nvPr/>
        </p:nvGrpSpPr>
        <p:grpSpPr>
          <a:xfrm>
            <a:off x="10487025" y="4457700"/>
            <a:ext cx="924000" cy="200100"/>
            <a:chOff x="0" y="0"/>
            <a:chExt cx="924000" cy="200100"/>
          </a:xfrm>
        </p:grpSpPr>
        <p:sp>
          <p:nvSpPr>
            <p:cNvPr id="186" name="Google Shape;186;p16"/>
            <p:cNvSpPr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6"/>
            <p:cNvSpPr txBox="1"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7C3AED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€11,000</a:t>
              </a:r>
              <a:endParaRPr sz="1200" b="1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88" name="Google Shape;188;p16"/>
          <p:cNvGrpSpPr/>
          <p:nvPr/>
        </p:nvGrpSpPr>
        <p:grpSpPr>
          <a:xfrm>
            <a:off x="1066800" y="4914900"/>
            <a:ext cx="1512000" cy="200100"/>
            <a:chOff x="0" y="0"/>
            <a:chExt cx="1512000" cy="200100"/>
          </a:xfrm>
        </p:grpSpPr>
        <p:sp>
          <p:nvSpPr>
            <p:cNvPr id="189" name="Google Shape;189;p16"/>
            <p:cNvSpPr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6"/>
            <p:cNvSpPr txBox="1"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BMW</a:t>
              </a:r>
              <a:endParaRPr sz="12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91" name="Google Shape;191;p16"/>
          <p:cNvGrpSpPr/>
          <p:nvPr/>
        </p:nvGrpSpPr>
        <p:grpSpPr>
          <a:xfrm>
            <a:off x="10487025" y="4914900"/>
            <a:ext cx="924000" cy="200100"/>
            <a:chOff x="0" y="0"/>
            <a:chExt cx="924000" cy="200100"/>
          </a:xfrm>
        </p:grpSpPr>
        <p:sp>
          <p:nvSpPr>
            <p:cNvPr id="192" name="Google Shape;192;p16"/>
            <p:cNvSpPr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6"/>
            <p:cNvSpPr txBox="1"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D9770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€13,000</a:t>
              </a:r>
              <a:endParaRPr sz="1200" b="1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33400"/>
            <a:ext cx="11430000" cy="1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VISUAL: FUEL TYPE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62000" y="762000"/>
            <a:ext cx="11430000" cy="36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Price by Fuel Type</a:t>
            </a:r>
          </a:p>
        </p:txBody>
      </p:sp>
      <p:sp>
        <p:nvSpPr>
          <p:cNvPr id="10" name="Card"/>
          <p:cNvSpPr/>
          <p:nvPr/>
        </p:nvSpPr>
        <p:spPr>
          <a:xfrm>
            <a:off x="762000" y="1409700"/>
            <a:ext cx="10668000" cy="440000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7550000" y="2100000"/>
            <a:ext cx="3600000" cy="30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Fuel type vs. average new price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Hybrid is the highest at €16.01K (23.03%)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Lpg follows at €12.02K, then Diesel at €12K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Elektro €10.89K, Benzin €9.25K, Cng €5.72K, Andere €3.43K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62000" y="6172200"/>
            <a:ext cx="10668000" cy="1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5</a:t>
            </a:r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1066800" y="1640000"/>
          <a:ext cx="6100000" cy="394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33400"/>
            <a:ext cx="11430000" cy="1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VISUAL: GEARBOX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62000" y="762000"/>
            <a:ext cx="11430000" cy="36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Price by Gearbox</a:t>
            </a:r>
          </a:p>
        </p:txBody>
      </p:sp>
      <p:sp>
        <p:nvSpPr>
          <p:cNvPr id="10" name="Card"/>
          <p:cNvSpPr/>
          <p:nvPr/>
        </p:nvSpPr>
        <p:spPr>
          <a:xfrm>
            <a:off x="762000" y="1409700"/>
            <a:ext cx="10668000" cy="440000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7550000" y="2100000"/>
            <a:ext cx="3600000" cy="30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Gearbox vs. average new price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 averages €16.64K (66.61%)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averages €8.34K (33.39%)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Overall average new price: €10.21K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62000" y="6172200"/>
            <a:ext cx="10668000" cy="1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6</a:t>
            </a:r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1066800" y="1640000"/>
          <a:ext cx="6100000" cy="394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16800" y="3100000"/>
            <a:ext cx="18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Plus Jakarta Sans"/>
              </a:rPr>
              <a:t>€10.21K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33400"/>
            <a:ext cx="11430000" cy="1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VISUAL: RECOMMENDATION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62000" y="762000"/>
            <a:ext cx="11430000" cy="36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 Recommendation Share</a:t>
            </a:r>
          </a:p>
        </p:txBody>
      </p:sp>
      <p:sp>
        <p:nvSpPr>
          <p:cNvPr id="10" name="Card"/>
          <p:cNvSpPr/>
          <p:nvPr/>
        </p:nvSpPr>
        <p:spPr>
          <a:xfrm>
            <a:off x="762000" y="1409700"/>
            <a:ext cx="10668000" cy="440000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7550000" y="2100000"/>
            <a:ext cx="3600000" cy="30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Listings by Car_Recommendation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311.149K listings classified in total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Buying: 304.75K, 97.94%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Avoid: 6.4K, 2.06%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62000" y="6172200"/>
            <a:ext cx="10668000" cy="1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7</a:t>
            </a:r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1066800" y="1640000"/>
          <a:ext cx="6100000" cy="394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16800" y="3100000"/>
            <a:ext cx="18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Plus Jakarta Sans"/>
              </a:rPr>
              <a:t>311.149K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33400"/>
            <a:ext cx="11430000" cy="1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VISUAL: MILEAGE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62000" y="762000"/>
            <a:ext cx="11430000" cy="36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Car Mileage by Brand</a:t>
            </a:r>
          </a:p>
        </p:txBody>
      </p:sp>
      <p:sp>
        <p:nvSpPr>
          <p:cNvPr id="10" name="Card"/>
          <p:cNvSpPr/>
          <p:nvPr/>
        </p:nvSpPr>
        <p:spPr>
          <a:xfrm>
            <a:off x="762000" y="1409700"/>
            <a:ext cx="10668000" cy="440000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Dashboard chart" descr="Car mileage by brand bar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030588"/>
            <a:ext cx="6100000" cy="3158823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7550000" y="2100000"/>
            <a:ext cx="3600000" cy="30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of Car_Mileage by brand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Trabant leads at 9.34, then Dacia (8.28) and Lada (7.91)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Mini 7.44, Smart 7.09, Hyundai 7.02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Porsche 7.00 and Kia 6.91 close the top eight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62000" y="6172200"/>
            <a:ext cx="10668000" cy="1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762000" y="1409700"/>
            <a:ext cx="5219700" cy="1743075"/>
          </a:xfrm>
          <a:prstGeom prst="roundRect">
            <a:avLst>
              <a:gd name="adj" fmla="val 874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6210300" y="1409700"/>
            <a:ext cx="5219700" cy="1743075"/>
          </a:xfrm>
          <a:prstGeom prst="roundRect">
            <a:avLst>
              <a:gd name="adj" fmla="val 874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762000" y="1409700"/>
            <a:ext cx="57150" cy="1743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6210300" y="1409700"/>
            <a:ext cx="57150" cy="1743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9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SPECIFICATION BREAKDOWN (CHART 2)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Fuel Type Average Price (€ EUR)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085850" y="1676400"/>
            <a:ext cx="607575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Price by Fuel Type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085850" y="2047875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Hybrid (23.03%):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€16.01K average new price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085850" y="2324100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Diesel (17.53%):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€12K average new price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085850" y="2600325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Elektro (15.67%):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€10.89K average new price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534150" y="1676400"/>
            <a:ext cx="56578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Gearbox Split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534150" y="2047875"/>
            <a:ext cx="47244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 (Automatik - 66.61%):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Highest average new price at €16.64K.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534150" y="2524125"/>
            <a:ext cx="47244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(Manuell - 33.39%):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Lower average new price at €8.34K.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762000" y="1409700"/>
            <a:ext cx="5219700" cy="1343025"/>
          </a:xfrm>
          <a:prstGeom prst="roundRect">
            <a:avLst>
              <a:gd name="adj" fmla="val 1134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210300" y="1409700"/>
            <a:ext cx="5219700" cy="1343025"/>
          </a:xfrm>
          <a:prstGeom prst="roundRect">
            <a:avLst>
              <a:gd name="adj" fmla="val 1134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762000" y="1409700"/>
            <a:ext cx="52197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210300" y="1409700"/>
            <a:ext cx="52197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10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TRANSMISSION ANALYSIS (CHART 3)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Gearbox Average Price Split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028700" y="1714500"/>
            <a:ext cx="61507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Transmission (33.39%)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028700" y="2047875"/>
            <a:ext cx="5857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Price: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€8.34K average new price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028700" y="2305050"/>
            <a:ext cx="5857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Share: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33.39% of the gearbox price split.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477000" y="1714500"/>
            <a:ext cx="5715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 Transmission (66.61%)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477000" y="2047875"/>
            <a:ext cx="5715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Price: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€16.64K average new price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477000" y="2305050"/>
            <a:ext cx="5715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Share: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66.61% of the gearbox price split.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/>
        </p:nvSpPr>
        <p:spPr>
          <a:xfrm>
            <a:off x="762000" y="1409700"/>
            <a:ext cx="5219700" cy="12954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6210300" y="1409700"/>
            <a:ext cx="5219700" cy="12954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762000" y="1409700"/>
            <a:ext cx="57150" cy="129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6210300" y="1409700"/>
            <a:ext cx="57150" cy="129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11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INTELLIGENCE (CHART 4)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Buying Suggestion Breakdown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085850" y="1676400"/>
            <a:ext cx="607575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Buying (97.94%)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1085850" y="2009775"/>
            <a:ext cx="4724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304.75K of 311.149K listings are flagged as recommended for purchase.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534150" y="1676400"/>
            <a:ext cx="56578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Avoid (2.06%)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534150" y="2009775"/>
            <a:ext cx="4724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6.4K of 311.149K listings are flagged as Avoid.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"/>
          <p:cNvSpPr/>
          <p:nvPr/>
        </p:nvSpPr>
        <p:spPr>
          <a:xfrm>
            <a:off x="762000" y="1409700"/>
            <a:ext cx="5219700" cy="12954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6210300" y="1409700"/>
            <a:ext cx="5219700" cy="12954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762000" y="1409700"/>
            <a:ext cx="57150" cy="129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6210300" y="1409700"/>
            <a:ext cx="57150" cy="129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12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INVENTORY TRACKING (CHART 6)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Brand Inventory Volume Share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1085850" y="1676400"/>
            <a:ext cx="607575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Volkswagen &amp; BMW Lead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1085850" y="2009775"/>
            <a:ext cx="4724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German domestic market shows massive listing volume dominance by Volkswagen, BMW, and Mercedes-Benz.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6534150" y="1676400"/>
            <a:ext cx="56578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Niche &amp; Import Brands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6534150" y="2009775"/>
            <a:ext cx="4724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Specialized marques maintain lower inventory counts with high relative valuation averages.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/>
          <p:nvPr/>
        </p:nvSpPr>
        <p:spPr>
          <a:xfrm>
            <a:off x="762000" y="1409700"/>
            <a:ext cx="3403550" cy="958155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4394150" y="1409700"/>
            <a:ext cx="3403550" cy="958155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8026300" y="1409700"/>
            <a:ext cx="3403550" cy="958155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762000" y="2329755"/>
            <a:ext cx="340355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4394150" y="2329755"/>
            <a:ext cx="340355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8026300" y="2329755"/>
            <a:ext cx="340355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13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SLABS (CHART 5)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Brands by Car Mileage (kmpl)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990600" y="1638300"/>
            <a:ext cx="38670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9.34 kmpl: Trabant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990600" y="1914525"/>
            <a:ext cx="3682937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Highest average Car_Mileage across all brands.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4622750" y="1638300"/>
            <a:ext cx="38670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7.00 - 8.28 kmpl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4622750" y="1914525"/>
            <a:ext cx="3682937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Dacia, Lada, Mini, Smart, Hyundai, Porsche.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8254900" y="1638300"/>
            <a:ext cx="38670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6.91 kmpl: Kia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8254900" y="1914525"/>
            <a:ext cx="3682937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Lowest of the top eight brands.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3B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/>
          <p:nvPr/>
        </p:nvSpPr>
        <p:spPr>
          <a:xfrm>
            <a:off x="5810250" y="3948112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 txBox="1"/>
          <p:nvPr/>
        </p:nvSpPr>
        <p:spPr>
          <a:xfrm>
            <a:off x="4608314" y="2471737"/>
            <a:ext cx="297537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2524125" y="3205162"/>
            <a:ext cx="7143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 for questions regarding the Automotive Market &amp; Sales Analysis project.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5042296" y="4214812"/>
            <a:ext cx="21074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Prince Yadav • Data Analyst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Microsoft Office PowerPoint</Application>
  <PresentationFormat>Widescreen</PresentationFormat>
  <Paragraphs>120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Plus Jakarta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prince yadav</cp:lastModifiedBy>
  <cp:revision>1</cp:revision>
  <dcterms:modified xsi:type="dcterms:W3CDTF">2026-10-01T07:27:20Z</dcterms:modified>
</cp:coreProperties>
</file>